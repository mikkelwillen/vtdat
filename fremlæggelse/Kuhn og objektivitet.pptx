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Average"/>
      <p:regular r:id="rId14"/>
    </p:embeddedFont>
    <p:embeddedFont>
      <p:font typeface="Oswald"/>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swald-regular.fntdata"/><Relationship Id="rId14" Type="http://schemas.openxmlformats.org/officeDocument/2006/relationships/font" Target="fonts/Average-regular.fntdata"/><Relationship Id="rId16" Type="http://schemas.openxmlformats.org/officeDocument/2006/relationships/font" Target="fonts/Oswa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3cf1ed4517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3cf1ed4517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a"/>
              <a:t>Kuhn skriver om de videnskabelige revolutioner som den omvæltning der sker når et paradigme når en kritisk masse af anomalier </a:t>
            </a:r>
            <a:r>
              <a:rPr lang="da">
                <a:solidFill>
                  <a:schemeClr val="dk1"/>
                </a:solidFill>
              </a:rPr>
              <a:t>hvilket starter en krise </a:t>
            </a:r>
            <a:r>
              <a:rPr lang="da"/>
              <a:t>og betyder </a:t>
            </a:r>
            <a:r>
              <a:rPr lang="da"/>
              <a:t>at paradigmet selv drages i tvivl. Denne omvæltning kommer ikke let da paradigmet består af hele vores verdenssyn. Derfor er paradigmeskiftet heller ikke noget som kommer nemt for den enkelte person, typisk så dør det gamle paradigme først når de sidste af dets tilhængere dør.</a:t>
            </a:r>
            <a:endParaRPr/>
          </a:p>
          <a:p>
            <a:pPr indent="0" lvl="0" marL="0" rtl="0" algn="l">
              <a:spcBef>
                <a:spcPts val="0"/>
              </a:spcBef>
              <a:spcAft>
                <a:spcPts val="0"/>
              </a:spcAft>
              <a:buNone/>
            </a:pPr>
            <a:r>
              <a:t/>
            </a:r>
            <a:endParaRPr/>
          </a:p>
          <a:p>
            <a:pPr indent="0" lvl="0" marL="0" rtl="0" algn="l">
              <a:spcBef>
                <a:spcPts val="0"/>
              </a:spcBef>
              <a:spcAft>
                <a:spcPts val="0"/>
              </a:spcAft>
              <a:buNone/>
            </a:pPr>
            <a:r>
              <a:rPr lang="da"/>
              <a:t>Kuhn beskriver inkommensurabilitet som en af de “helt karakteristiske egenskaber” ved en videnskabelig revolution. Så paradigmeskift sker kun når grundantagelserne er ændret i sådan en grad at der opstår inkommensurabilitet med det gamle paradigme.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3cf1ed451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3cf1ed451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a">
                <a:solidFill>
                  <a:schemeClr val="dk1"/>
                </a:solidFill>
              </a:rPr>
              <a:t>Kuhn Argumenterer for at </a:t>
            </a:r>
            <a:r>
              <a:rPr lang="da"/>
              <a:t>o</a:t>
            </a:r>
            <a:r>
              <a:rPr lang="da"/>
              <a:t>versættelse fra paradigme til paradigme er umuligt både på grund af at ord ikke nødvendigvis har den præcist samme mening, og at de grundantagelser der bygger hvert paradigme ikke er kompatible. </a:t>
            </a:r>
            <a:endParaRPr/>
          </a:p>
          <a:p>
            <a:pPr indent="0" lvl="0" marL="0" rtl="0" algn="l">
              <a:spcBef>
                <a:spcPts val="0"/>
              </a:spcBef>
              <a:spcAft>
                <a:spcPts val="0"/>
              </a:spcAft>
              <a:buNone/>
            </a:pPr>
            <a:r>
              <a:t/>
            </a:r>
            <a:endParaRPr/>
          </a:p>
          <a:p>
            <a:pPr indent="0" lvl="0" marL="0" rtl="0" algn="l">
              <a:spcBef>
                <a:spcPts val="0"/>
              </a:spcBef>
              <a:spcAft>
                <a:spcPts val="0"/>
              </a:spcAft>
              <a:buNone/>
            </a:pPr>
            <a:r>
              <a:rPr lang="da"/>
              <a:t>Som den anden del af inkommensurabillitet så argumenterer Kuhn for at det ikke er muligt at sammenligne to paradigmer fordi det ikke er muligt at stå uden for dem og kigge på dem fra et udefrakommende og rationelt grundlag. På den måde argumenterer Kuhn for at der ikke findes objektive kriterier hvorpå man kan sammenligne paradigmer.</a:t>
            </a:r>
            <a:endParaRPr/>
          </a:p>
          <a:p>
            <a:pPr indent="0" lvl="0" marL="0" rtl="0" algn="l">
              <a:spcBef>
                <a:spcPts val="0"/>
              </a:spcBef>
              <a:spcAft>
                <a:spcPts val="0"/>
              </a:spcAft>
              <a:buNone/>
            </a:pPr>
            <a:r>
              <a:t/>
            </a:r>
            <a:endParaRPr/>
          </a:p>
          <a:p>
            <a:pPr indent="0" lvl="0" marL="0" rtl="0" algn="l">
              <a:spcBef>
                <a:spcPts val="0"/>
              </a:spcBef>
              <a:spcAft>
                <a:spcPts val="0"/>
              </a:spcAft>
              <a:buNone/>
            </a:pPr>
            <a:r>
              <a:rPr lang="da"/>
              <a:t>En af konsekvenserne af inkommensurabilitet er teoriladethed hvilket omhandler det at hvert eksperiment er lavet i konteksten af en bestemt teori, og siden den teori er forbundet til et paradigme så skal både teorier og eksperimenter forkastes i en videnskabelig revolution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3b4a0376a9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3b4a0376a9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a"/>
              <a:t>Nøjagtighed: Hvis opdagelsen er så banebrydende at den bryder med alt</a:t>
            </a:r>
            <a:endParaRPr/>
          </a:p>
          <a:p>
            <a:pPr indent="0" lvl="0" marL="0" rtl="0" algn="l">
              <a:spcBef>
                <a:spcPts val="0"/>
              </a:spcBef>
              <a:spcAft>
                <a:spcPts val="0"/>
              </a:spcAft>
              <a:buNone/>
            </a:pPr>
            <a:r>
              <a:rPr lang="da"/>
              <a:t>Balance mellem at stemme overens og række ud over</a:t>
            </a:r>
            <a:endParaRPr/>
          </a:p>
          <a:p>
            <a:pPr indent="0" lvl="0" marL="0" rtl="0" algn="l">
              <a:spcBef>
                <a:spcPts val="0"/>
              </a:spcBef>
              <a:spcAft>
                <a:spcPts val="0"/>
              </a:spcAft>
              <a:buNone/>
            </a:pPr>
            <a:r>
              <a:rPr lang="da"/>
              <a:t>Konsistens: Geocentrisk</a:t>
            </a:r>
            <a:endParaRPr/>
          </a:p>
          <a:p>
            <a:pPr indent="0" lvl="0" marL="0" rtl="0" algn="l">
              <a:spcBef>
                <a:spcPts val="0"/>
              </a:spcBef>
              <a:spcAft>
                <a:spcPts val="0"/>
              </a:spcAft>
              <a:buNone/>
            </a:pPr>
            <a:r>
              <a:rPr lang="da"/>
              <a:t>Enkelhed: Heliocentrisk</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3b4a0376a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3b4a0376a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dk1"/>
              </a:buClr>
              <a:buSzPts val="1600"/>
              <a:buFont typeface="Average"/>
              <a:buChar char="-"/>
            </a:pPr>
            <a:r>
              <a:rPr lang="da" sz="1600">
                <a:solidFill>
                  <a:schemeClr val="dk1"/>
                </a:solidFill>
                <a:latin typeface="Average"/>
                <a:ea typeface="Average"/>
                <a:cs typeface="Average"/>
                <a:sym typeface="Average"/>
              </a:rPr>
              <a:t>Forudgående erfaringer som videnskabsmand: Ens værdier, felt og arbejdsmetoder</a:t>
            </a:r>
            <a:endParaRPr sz="1600">
              <a:solidFill>
                <a:schemeClr val="dk1"/>
              </a:solidFill>
              <a:latin typeface="Average"/>
              <a:ea typeface="Average"/>
              <a:cs typeface="Average"/>
              <a:sym typeface="Average"/>
            </a:endParaRPr>
          </a:p>
          <a:p>
            <a:pPr indent="-330200" lvl="0" marL="457200" rtl="0" algn="l">
              <a:lnSpc>
                <a:spcPct val="115000"/>
              </a:lnSpc>
              <a:spcBef>
                <a:spcPts val="0"/>
              </a:spcBef>
              <a:spcAft>
                <a:spcPts val="0"/>
              </a:spcAft>
              <a:buClr>
                <a:schemeClr val="dk1"/>
              </a:buClr>
              <a:buSzPts val="1600"/>
              <a:buFont typeface="Average"/>
              <a:buChar char="-"/>
            </a:pPr>
            <a:r>
              <a:rPr lang="da" sz="1600">
                <a:solidFill>
                  <a:schemeClr val="dk1"/>
                </a:solidFill>
                <a:latin typeface="Average"/>
                <a:ea typeface="Average"/>
                <a:cs typeface="Average"/>
                <a:sym typeface="Average"/>
              </a:rPr>
              <a:t>Bevægelser og verdenssyn på den tid: Fx jorden er rund vs kirken og mange nye opdagelser i renæssancen</a:t>
            </a:r>
            <a:endParaRPr sz="1600">
              <a:solidFill>
                <a:schemeClr val="dk1"/>
              </a:solidFill>
              <a:latin typeface="Average"/>
              <a:ea typeface="Average"/>
              <a:cs typeface="Average"/>
              <a:sym typeface="Average"/>
            </a:endParaRPr>
          </a:p>
          <a:p>
            <a:pPr indent="-330200" lvl="0" marL="457200" rtl="0" algn="l">
              <a:lnSpc>
                <a:spcPct val="115000"/>
              </a:lnSpc>
              <a:spcBef>
                <a:spcPts val="0"/>
              </a:spcBef>
              <a:spcAft>
                <a:spcPts val="0"/>
              </a:spcAft>
              <a:buClr>
                <a:schemeClr val="dk1"/>
              </a:buClr>
              <a:buSzPts val="1600"/>
              <a:buFont typeface="Average"/>
              <a:buChar char="-"/>
            </a:pPr>
            <a:r>
              <a:rPr lang="da" sz="1600">
                <a:solidFill>
                  <a:schemeClr val="dk1"/>
                </a:solidFill>
                <a:latin typeface="Average"/>
                <a:ea typeface="Average"/>
                <a:cs typeface="Average"/>
                <a:sym typeface="Average"/>
              </a:rPr>
              <a:t>Personlighed</a:t>
            </a:r>
            <a:endParaRPr sz="9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3b4a0376a9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3b4a0376a9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a"/>
              <a:t>Opdagelseskonteksten påvirker bekræftelseskonteksten</a:t>
            </a:r>
            <a:endParaRPr/>
          </a:p>
          <a:p>
            <a:pPr indent="0" lvl="0" marL="0" rtl="0" algn="l">
              <a:spcBef>
                <a:spcPts val="0"/>
              </a:spcBef>
              <a:spcAft>
                <a:spcPts val="0"/>
              </a:spcAft>
              <a:buNone/>
            </a:pPr>
            <a:r>
              <a:rPr lang="da"/>
              <a:t>Når man skal bekræfte noget, har man allerede målet foran sig.</a:t>
            </a:r>
            <a:endParaRPr/>
          </a:p>
          <a:p>
            <a:pPr indent="0" lvl="0" marL="0" rtl="0" algn="l">
              <a:spcBef>
                <a:spcPts val="0"/>
              </a:spcBef>
              <a:spcAft>
                <a:spcPts val="0"/>
              </a:spcAft>
              <a:buNone/>
            </a:pPr>
            <a:r>
              <a:rPr lang="da"/>
              <a:t>Man ved allerede hvor man skal hen</a:t>
            </a:r>
            <a:endParaRPr/>
          </a:p>
          <a:p>
            <a:pPr indent="0" lvl="0" marL="0" rtl="0" algn="l">
              <a:spcBef>
                <a:spcPts val="0"/>
              </a:spcBef>
              <a:spcAft>
                <a:spcPts val="0"/>
              </a:spcAft>
              <a:buNone/>
            </a:pPr>
            <a:r>
              <a:rPr lang="da"/>
              <a:t>Der sættes derfor ikke de store spørgsmåltegn ved metoden, hvis den bekræfter hypotesen</a:t>
            </a:r>
            <a:endParaRPr/>
          </a:p>
          <a:p>
            <a:pPr indent="0" lvl="0" marL="0" rtl="0" algn="l">
              <a:spcBef>
                <a:spcPts val="0"/>
              </a:spcBef>
              <a:spcAft>
                <a:spcPts val="0"/>
              </a:spcAft>
              <a:buNone/>
            </a:pPr>
            <a:r>
              <a:rPr lang="da"/>
              <a:t>Hvis man derimod modbeviser sin hypotese, bliver der sat spørgsmåltegn ved metoden, da man i dette tilfælde ikke vil tror, man har udført metoden korrekt, eller at metoden ikke kan bruges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da"/>
              <a:t>subjektivitet som menneskelig svaghed vs. udtryk for videnskabelig videns natur</a:t>
            </a:r>
            <a:endParaRPr/>
          </a:p>
          <a:p>
            <a:pPr indent="0" lvl="0" marL="0" rtl="0" algn="l">
              <a:spcBef>
                <a:spcPts val="0"/>
              </a:spcBef>
              <a:spcAft>
                <a:spcPts val="0"/>
              </a:spcAft>
              <a:buNone/>
            </a:pPr>
            <a:r>
              <a:rPr lang="da"/>
              <a:t>forsat forskning skulle kunne frembringe en altudtømmende liste over kriterier, som ville gøre det muligt at frembringe en algoritme, som er i stand til at lave et rationelt enstemmigt valg. </a:t>
            </a:r>
            <a:endParaRPr/>
          </a:p>
          <a:p>
            <a:pPr indent="0" lvl="0" marL="0" rtl="0" algn="l">
              <a:spcBef>
                <a:spcPts val="0"/>
              </a:spcBef>
              <a:spcAft>
                <a:spcPts val="0"/>
              </a:spcAft>
              <a:buNone/>
            </a:pPr>
            <a:r>
              <a:rPr lang="da"/>
              <a:t>Der har dog ikke været nogle alternativer til at lave en liste med subjektive kriterier på den bedste eksisterende liste med objektive kriterier</a:t>
            </a:r>
            <a:endParaRPr/>
          </a:p>
          <a:p>
            <a:pPr indent="0" lvl="0" marL="0" rtl="0" algn="l">
              <a:spcBef>
                <a:spcPts val="0"/>
              </a:spcBef>
              <a:spcAft>
                <a:spcPts val="0"/>
              </a:spcAft>
              <a:buNone/>
            </a:pPr>
            <a:r>
              <a:rPr lang="da"/>
              <a:t>nogen mener, at distinktionen mellem opdagelsens og bekræftelsens kontekst, gør det muligt ikke at bruge subjektive faktorer</a:t>
            </a:r>
            <a:endParaRPr/>
          </a:p>
          <a:p>
            <a:pPr indent="0" lvl="0" marL="0" rtl="0" algn="l">
              <a:spcBef>
                <a:spcPts val="0"/>
              </a:spcBef>
              <a:spcAft>
                <a:spcPts val="0"/>
              </a:spcAft>
              <a:buNone/>
            </a:pPr>
            <a:r>
              <a:rPr lang="da"/>
              <a:t>Der medgives, at de subjektive faktorer spiller en rolle i opdagelsen og udtænkningen af nye teorier</a:t>
            </a:r>
            <a:endParaRPr/>
          </a:p>
          <a:p>
            <a:pPr indent="0" lvl="0" marL="0" rtl="0" algn="l">
              <a:spcBef>
                <a:spcPts val="0"/>
              </a:spcBef>
              <a:spcAft>
                <a:spcPts val="0"/>
              </a:spcAft>
              <a:buNone/>
            </a:pPr>
            <a:r>
              <a:rPr lang="da"/>
              <a:t>der menes dog, at denne intuitive proces er irrelevant for spørgsmålet om videnskabelig objektivitet</a:t>
            </a:r>
            <a:endParaRPr/>
          </a:p>
          <a:p>
            <a:pPr indent="0" lvl="0" marL="0" rtl="0" algn="l">
              <a:spcBef>
                <a:spcPts val="0"/>
              </a:spcBef>
              <a:spcAft>
                <a:spcPts val="0"/>
              </a:spcAft>
              <a:buNone/>
            </a:pPr>
            <a:r>
              <a:rPr lang="da"/>
              <a:t>objektiviteten kommer ind i kræft af den måde man bekræfter og bedømmer teorier</a:t>
            </a:r>
            <a:endParaRPr/>
          </a:p>
          <a:p>
            <a:pPr indent="0" lvl="0" marL="0" rtl="0" algn="l">
              <a:spcBef>
                <a:spcPts val="0"/>
              </a:spcBef>
              <a:spcAft>
                <a:spcPts val="0"/>
              </a:spcAft>
              <a:buNone/>
            </a:pPr>
            <a:r>
              <a:rPr lang="da"/>
              <a:t>Teorierne bliver bedømt ud fra et “objektivt” set kriterier, som en gruppe kompetente videnskabsmænd på området, sætter. </a:t>
            </a:r>
            <a:endParaRPr/>
          </a:p>
          <a:p>
            <a:pPr indent="0" lvl="0" marL="0" rtl="0" algn="l">
              <a:spcBef>
                <a:spcPts val="0"/>
              </a:spcBef>
              <a:spcAft>
                <a:spcPts val="0"/>
              </a:spcAft>
              <a:buNone/>
            </a:pPr>
            <a:r>
              <a:t/>
            </a:r>
            <a:endParaRPr/>
          </a:p>
          <a:p>
            <a:pPr indent="0" lvl="0" marL="0" rtl="0" algn="l">
              <a:spcBef>
                <a:spcPts val="0"/>
              </a:spcBef>
              <a:spcAft>
                <a:spcPts val="0"/>
              </a:spcAft>
              <a:buNone/>
            </a:pPr>
            <a:r>
              <a:rPr lang="da"/>
              <a:t>kuhn mener så også, at man som videnskabsmand altid vil have forudindtagelser, da alle er oplært at nogen (indset carina buzzword)</a:t>
            </a:r>
            <a:endParaRPr/>
          </a:p>
          <a:p>
            <a:pPr indent="0" lvl="0" marL="0" rtl="0" algn="l">
              <a:spcBef>
                <a:spcPts val="0"/>
              </a:spcBef>
              <a:spcAft>
                <a:spcPts val="0"/>
              </a:spcAft>
              <a:buNone/>
            </a:pPr>
            <a:r>
              <a:t/>
            </a:r>
            <a:endParaRPr/>
          </a:p>
          <a:p>
            <a:pPr indent="0" lvl="0" marL="0" rtl="0" algn="l">
              <a:spcBef>
                <a:spcPts val="0"/>
              </a:spcBef>
              <a:spcAft>
                <a:spcPts val="0"/>
              </a:spcAft>
              <a:buNone/>
            </a:pPr>
            <a:r>
              <a:rPr lang="da"/>
              <a:t>kuhn mener ikke at denne distinktion mellem opdagelsens og bekræftelsens kontekst er en god idealisering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3c844be0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3c844be0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a"/>
              <a:t>Foucault ville vise jordens bevægelse</a:t>
            </a:r>
            <a:endParaRPr/>
          </a:p>
          <a:p>
            <a:pPr indent="0" lvl="0" marL="0" rtl="0" algn="l">
              <a:spcBef>
                <a:spcPts val="0"/>
              </a:spcBef>
              <a:spcAft>
                <a:spcPts val="0"/>
              </a:spcAft>
              <a:buNone/>
            </a:pPr>
            <a:r>
              <a:rPr lang="da"/>
              <a:t>Han lavede derfor et pendul, som bevidste jordens bevægelse</a:t>
            </a:r>
            <a:endParaRPr/>
          </a:p>
          <a:p>
            <a:pPr indent="0" lvl="0" marL="0" rtl="0" algn="l">
              <a:spcBef>
                <a:spcPts val="0"/>
              </a:spcBef>
              <a:spcAft>
                <a:spcPts val="0"/>
              </a:spcAft>
              <a:buNone/>
            </a:pPr>
            <a:r>
              <a:rPr lang="da"/>
              <a:t>Der var ingen </a:t>
            </a:r>
            <a:r>
              <a:rPr lang="da"/>
              <a:t>videnskabsmænd</a:t>
            </a:r>
            <a:r>
              <a:rPr lang="da"/>
              <a:t> på den tid, som skulle overbevises</a:t>
            </a:r>
            <a:endParaRPr/>
          </a:p>
          <a:p>
            <a:pPr indent="0" lvl="0" marL="0" rtl="0" algn="l">
              <a:spcBef>
                <a:spcPts val="0"/>
              </a:spcBef>
              <a:spcAft>
                <a:spcPts val="0"/>
              </a:spcAft>
              <a:buNone/>
            </a:pPr>
            <a:r>
              <a:rPr lang="da"/>
              <a:t>og teorien blev derfor antaget som sand</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3c844be0e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3c844be0e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a"/>
              <a:t>Det kan være problematisk at tage en teori for gode varer</a:t>
            </a:r>
            <a:endParaRPr/>
          </a:p>
          <a:p>
            <a:pPr indent="0" lvl="0" marL="0" rtl="0" algn="l">
              <a:spcBef>
                <a:spcPts val="0"/>
              </a:spcBef>
              <a:spcAft>
                <a:spcPts val="0"/>
              </a:spcAft>
              <a:buNone/>
            </a:pPr>
            <a:r>
              <a:rPr lang="da"/>
              <a:t>Den bayesianske algoritme for bekræfte teorier udregner sandsynligheden for teorien T ud fra evidensen E</a:t>
            </a:r>
            <a:endParaRPr/>
          </a:p>
          <a:p>
            <a:pPr indent="0" lvl="0" marL="0" rtl="0" algn="l">
              <a:spcBef>
                <a:spcPts val="0"/>
              </a:spcBef>
              <a:spcAft>
                <a:spcPts val="0"/>
              </a:spcAft>
              <a:buNone/>
            </a:pPr>
            <a:r>
              <a:rPr lang="da"/>
              <a:t>Denne evidens skal dog være objektiv</a:t>
            </a:r>
            <a:endParaRPr/>
          </a:p>
          <a:p>
            <a:pPr indent="0" lvl="0" marL="0" rtl="0" algn="l">
              <a:spcBef>
                <a:spcPts val="0"/>
              </a:spcBef>
              <a:spcAft>
                <a:spcPts val="0"/>
              </a:spcAft>
              <a:buNone/>
            </a:pPr>
            <a:r>
              <a:rPr lang="da"/>
              <a:t>Da den ikke er det, vil det subjektive valg af evidens give individet mulighed for at “bekræfte” sin teori med subjektive kriterier for valg af metode og evidens.</a:t>
            </a:r>
            <a:endParaRPr/>
          </a:p>
          <a:p>
            <a:pPr indent="0" lvl="0" marL="0" rtl="0" algn="l">
              <a:spcBef>
                <a:spcPts val="0"/>
              </a:spcBef>
              <a:spcAft>
                <a:spcPts val="0"/>
              </a:spcAft>
              <a:buNone/>
            </a:pPr>
            <a:r>
              <a:t/>
            </a:r>
            <a:endParaRPr/>
          </a:p>
          <a:p>
            <a:pPr indent="0" lvl="0" marL="0" rtl="0" algn="l">
              <a:spcBef>
                <a:spcPts val="0"/>
              </a:spcBef>
              <a:spcAft>
                <a:spcPts val="0"/>
              </a:spcAft>
              <a:buNone/>
            </a:pPr>
            <a:r>
              <a:rPr lang="da"/>
              <a:t>Et andet eksempel kunne være det heliocentriske verdensbillede vs. det geocentriske verdens billede</a:t>
            </a:r>
            <a:endParaRPr/>
          </a:p>
          <a:p>
            <a:pPr indent="0" lvl="0" marL="0" rtl="0" algn="l">
              <a:spcBef>
                <a:spcPts val="0"/>
              </a:spcBef>
              <a:spcAft>
                <a:spcPts val="0"/>
              </a:spcAft>
              <a:buNone/>
            </a:pPr>
            <a:r>
              <a:rPr lang="da"/>
              <a:t>Man kunne godt have opdaget at solen var centrum for vores solsystem, men det har ikke været socialt acceptabelt af kirken</a:t>
            </a:r>
            <a:endParaRPr/>
          </a:p>
          <a:p>
            <a:pPr indent="0" lvl="0" marL="0" rtl="0" algn="l">
              <a:spcBef>
                <a:spcPts val="0"/>
              </a:spcBef>
              <a:spcAft>
                <a:spcPts val="0"/>
              </a:spcAft>
              <a:buNone/>
            </a:pPr>
            <a:r>
              <a:rPr lang="da"/>
              <a:t>Der er derved også lavet en masse forskning og teorier, hvor jorden er centrum, som er blevet bekræftet af både videnskabspersoner og forsøg</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d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da"/>
              <a:t>Kuhn og objektivitet</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da"/>
              <a:t>Af: Simon, Caroline og Mikkel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Videnskabelige Revolutioner</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a"/>
              <a:t>Idet paradigmer omhandler hele en persons verdenssyn kommer skift af paradigmer ikke let. Paradigmer dør først når de sidste af deres tilhængere dør.</a:t>
            </a:r>
            <a:endParaRPr/>
          </a:p>
          <a:p>
            <a:pPr indent="0" lvl="0" marL="0" rtl="0" algn="l">
              <a:spcBef>
                <a:spcPts val="1200"/>
              </a:spcBef>
              <a:spcAft>
                <a:spcPts val="0"/>
              </a:spcAft>
              <a:buNone/>
            </a:pPr>
            <a:r>
              <a:rPr lang="da"/>
              <a:t>Kuhn beskriver inkommensurabilitet som en af de “helt karakteristiske egenskaber” ved en videnskabelig revolution.</a:t>
            </a:r>
            <a:endParaRPr/>
          </a:p>
          <a:p>
            <a:pPr indent="0" lvl="0" marL="0" rtl="0" algn="l">
              <a:spcBef>
                <a:spcPts val="1200"/>
              </a:spcBef>
              <a:spcAft>
                <a:spcPts val="1200"/>
              </a:spcAft>
              <a:buNone/>
            </a:pPr>
            <a:r>
              <a:t/>
            </a:r>
            <a:endParaRPr/>
          </a:p>
        </p:txBody>
      </p:sp>
      <p:pic>
        <p:nvPicPr>
          <p:cNvPr id="67" name="Google Shape;67;p14"/>
          <p:cNvPicPr preferRelativeResize="0"/>
          <p:nvPr/>
        </p:nvPicPr>
        <p:blipFill>
          <a:blip r:embed="rId3">
            <a:alphaModFix/>
          </a:blip>
          <a:stretch>
            <a:fillRect/>
          </a:stretch>
        </p:blipFill>
        <p:spPr>
          <a:xfrm>
            <a:off x="1204913" y="2828050"/>
            <a:ext cx="6734175" cy="1905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Inkommensurabilitet</a:t>
            </a:r>
            <a:endParaRPr/>
          </a:p>
        </p:txBody>
      </p:sp>
      <p:sp>
        <p:nvSpPr>
          <p:cNvPr id="73" name="Google Shape;73;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a"/>
              <a:t>Oversættelse umuligt på grund af inkompatible grundantagelser.</a:t>
            </a:r>
            <a:endParaRPr/>
          </a:p>
          <a:p>
            <a:pPr indent="0" lvl="0" marL="0" rtl="0" algn="l">
              <a:spcBef>
                <a:spcPts val="1200"/>
              </a:spcBef>
              <a:spcAft>
                <a:spcPts val="0"/>
              </a:spcAft>
              <a:buNone/>
            </a:pPr>
            <a:r>
              <a:rPr lang="da"/>
              <a:t>Objektiv sammenligning umuligt fordi det ikke er muligt at kigge på paradigmer med et udefrakommende og rationelt synspunkt.</a:t>
            </a:r>
            <a:endParaRPr/>
          </a:p>
          <a:p>
            <a:pPr indent="0" lvl="0" marL="0" rtl="0" algn="l">
              <a:spcBef>
                <a:spcPts val="1200"/>
              </a:spcBef>
              <a:spcAft>
                <a:spcPts val="1200"/>
              </a:spcAft>
              <a:buNone/>
            </a:pPr>
            <a:r>
              <a:rPr lang="da"/>
              <a:t>Eksperimenter er </a:t>
            </a:r>
            <a:r>
              <a:rPr lang="da"/>
              <a:t>teoriladede</a:t>
            </a:r>
            <a:r>
              <a:rPr lang="da"/>
              <a:t> hvorfor både teorier og eksperimenter </a:t>
            </a:r>
            <a:r>
              <a:rPr lang="da"/>
              <a:t>forkastes</a:t>
            </a:r>
            <a:r>
              <a:rPr lang="da"/>
              <a:t> i en videnskabelig revolution, dette er ofte beskrevet som Kuhns “centrale metafor”.</a:t>
            </a:r>
            <a:endParaRPr/>
          </a:p>
        </p:txBody>
      </p:sp>
      <p:pic>
        <p:nvPicPr>
          <p:cNvPr id="74" name="Google Shape;74;p15"/>
          <p:cNvPicPr preferRelativeResize="0"/>
          <p:nvPr/>
        </p:nvPicPr>
        <p:blipFill>
          <a:blip r:embed="rId3">
            <a:alphaModFix/>
          </a:blip>
          <a:stretch>
            <a:fillRect/>
          </a:stretch>
        </p:blipFill>
        <p:spPr>
          <a:xfrm>
            <a:off x="1709738" y="3304950"/>
            <a:ext cx="5724525" cy="1543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De almene kriterier</a:t>
            </a:r>
            <a:endParaRPr/>
          </a:p>
        </p:txBody>
      </p:sp>
      <p:sp>
        <p:nvSpPr>
          <p:cNvPr id="80" name="Google Shape;80;p16"/>
          <p:cNvSpPr txBox="1"/>
          <p:nvPr>
            <p:ph idx="1" type="body"/>
          </p:nvPr>
        </p:nvSpPr>
        <p:spPr>
          <a:xfrm>
            <a:off x="311700" y="1152475"/>
            <a:ext cx="8520600" cy="3687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da"/>
              <a:t>Hvad kendetegner en god videnskabelig teori?</a:t>
            </a:r>
            <a:endParaRPr/>
          </a:p>
          <a:p>
            <a:pPr indent="-342900" lvl="0" marL="457200" rtl="0" algn="l">
              <a:spcBef>
                <a:spcPts val="1200"/>
              </a:spcBef>
              <a:spcAft>
                <a:spcPts val="0"/>
              </a:spcAft>
              <a:buSzPts val="1800"/>
              <a:buChar char="●"/>
            </a:pPr>
            <a:r>
              <a:rPr b="1" lang="da"/>
              <a:t>Nøjagtighed:</a:t>
            </a:r>
            <a:r>
              <a:rPr lang="da"/>
              <a:t> Konsekvenserne skal stemme overens med resultaterne af eksisterende eksperimenter og iagttagelser</a:t>
            </a:r>
            <a:endParaRPr/>
          </a:p>
          <a:p>
            <a:pPr indent="-342900" lvl="0" marL="457200" rtl="0" algn="l">
              <a:spcBef>
                <a:spcPts val="0"/>
              </a:spcBef>
              <a:spcAft>
                <a:spcPts val="0"/>
              </a:spcAft>
              <a:buSzPts val="1800"/>
              <a:buChar char="●"/>
            </a:pPr>
            <a:r>
              <a:rPr b="1" lang="da"/>
              <a:t>Konsistens:</a:t>
            </a:r>
            <a:r>
              <a:rPr lang="da"/>
              <a:t> Ikke bare i forhold til sig selv, men også accepterede teorier</a:t>
            </a:r>
            <a:endParaRPr/>
          </a:p>
          <a:p>
            <a:pPr indent="-342900" lvl="0" marL="457200" rtl="0" algn="l">
              <a:spcBef>
                <a:spcPts val="0"/>
              </a:spcBef>
              <a:spcAft>
                <a:spcPts val="0"/>
              </a:spcAft>
              <a:buSzPts val="1800"/>
              <a:buChar char="●"/>
            </a:pPr>
            <a:r>
              <a:rPr b="1" lang="da"/>
              <a:t>Perspektiv:</a:t>
            </a:r>
            <a:r>
              <a:rPr lang="da"/>
              <a:t> Konsekvenserne rækker ud over de ting, teorien i første omgang skulle forklare</a:t>
            </a:r>
            <a:endParaRPr/>
          </a:p>
          <a:p>
            <a:pPr indent="-342900" lvl="0" marL="457200" rtl="0" algn="l">
              <a:spcBef>
                <a:spcPts val="0"/>
              </a:spcBef>
              <a:spcAft>
                <a:spcPts val="0"/>
              </a:spcAft>
              <a:buSzPts val="1800"/>
              <a:buChar char="●"/>
            </a:pPr>
            <a:r>
              <a:rPr b="1" lang="da"/>
              <a:t>Enkelhed:</a:t>
            </a:r>
            <a:r>
              <a:rPr lang="da"/>
              <a:t> Bringe orden i fænomener som, hvis den ikke fandtes, ville være forvirrende</a:t>
            </a:r>
            <a:endParaRPr/>
          </a:p>
          <a:p>
            <a:pPr indent="-342900" lvl="0" marL="457200" rtl="0" algn="l">
              <a:spcBef>
                <a:spcPts val="0"/>
              </a:spcBef>
              <a:spcAft>
                <a:spcPts val="0"/>
              </a:spcAft>
              <a:buSzPts val="1800"/>
              <a:buChar char="●"/>
            </a:pPr>
            <a:r>
              <a:rPr b="1" lang="da"/>
              <a:t>Givtighed:</a:t>
            </a:r>
            <a:r>
              <a:rPr lang="da"/>
              <a:t> Bringe nye fænomener for dagen eller påvise hidtil ubemærkede relationer</a:t>
            </a:r>
            <a:endParaRPr/>
          </a:p>
          <a:p>
            <a:pPr indent="0" lvl="0" marL="0" rtl="0" algn="l">
              <a:spcBef>
                <a:spcPts val="1200"/>
              </a:spcBef>
              <a:spcAft>
                <a:spcPts val="1200"/>
              </a:spcAft>
              <a:buNone/>
            </a:pPr>
            <a:r>
              <a:rPr lang="da"/>
              <a:t>Konflikt med hinanden: fx nøjagtighed vs perspektiv og konsistens vs. enkelhed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Ikke en entydig algoritme for teorivalg</a:t>
            </a:r>
            <a:endParaRPr/>
          </a:p>
        </p:txBody>
      </p:sp>
      <p:sp>
        <p:nvSpPr>
          <p:cNvPr id="86" name="Google Shape;86;p17"/>
          <p:cNvSpPr txBox="1"/>
          <p:nvPr>
            <p:ph idx="1" type="body"/>
          </p:nvPr>
        </p:nvSpPr>
        <p:spPr>
          <a:xfrm>
            <a:off x="311700" y="1152475"/>
            <a:ext cx="8520600" cy="3663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da"/>
              <a:t>Man kan (ifølge Kuhn) ikke bestemme en entydig algoritme for teorivalg ud fra disse kriterier</a:t>
            </a:r>
            <a:endParaRPr/>
          </a:p>
          <a:p>
            <a:pPr indent="0" lvl="0" marL="0" rtl="0" algn="l">
              <a:spcBef>
                <a:spcPts val="1200"/>
              </a:spcBef>
              <a:spcAft>
                <a:spcPts val="0"/>
              </a:spcAft>
              <a:buNone/>
            </a:pPr>
            <a:r>
              <a:rPr lang="da"/>
              <a:t>“Skønt sådanne love faktisk findes og burde kunne afdækkes, så er de ikke i sig selv tilstrækkelige til at afgøre, hvad den enkelte videnskabsmand beslutter” (Kuhn, 1995)</a:t>
            </a:r>
            <a:endParaRPr/>
          </a:p>
          <a:p>
            <a:pPr indent="-342900" lvl="0" marL="457200" rtl="0" algn="l">
              <a:spcBef>
                <a:spcPts val="1200"/>
              </a:spcBef>
              <a:spcAft>
                <a:spcPts val="0"/>
              </a:spcAft>
              <a:buSzPts val="1800"/>
              <a:buChar char="-"/>
            </a:pPr>
            <a:r>
              <a:rPr lang="da"/>
              <a:t>Forudgående erfaringer som videnskabsmand</a:t>
            </a:r>
            <a:endParaRPr/>
          </a:p>
          <a:p>
            <a:pPr indent="-342900" lvl="0" marL="457200" rtl="0" algn="l">
              <a:spcBef>
                <a:spcPts val="0"/>
              </a:spcBef>
              <a:spcAft>
                <a:spcPts val="0"/>
              </a:spcAft>
              <a:buSzPts val="1800"/>
              <a:buChar char="-"/>
            </a:pPr>
            <a:r>
              <a:rPr lang="da"/>
              <a:t>Bevægelser og verdenssyn på den tid</a:t>
            </a:r>
            <a:endParaRPr/>
          </a:p>
          <a:p>
            <a:pPr indent="-342900" lvl="0" marL="457200" rtl="0" algn="l">
              <a:spcBef>
                <a:spcPts val="0"/>
              </a:spcBef>
              <a:spcAft>
                <a:spcPts val="0"/>
              </a:spcAft>
              <a:buSzPts val="1800"/>
              <a:buChar char="-"/>
            </a:pPr>
            <a:r>
              <a:rPr lang="da"/>
              <a:t>Personlighed</a:t>
            </a:r>
            <a:endParaRPr/>
          </a:p>
          <a:p>
            <a:pPr indent="0" lvl="0" marL="0" rtl="0" algn="l">
              <a:spcBef>
                <a:spcPts val="1200"/>
              </a:spcBef>
              <a:spcAft>
                <a:spcPts val="1200"/>
              </a:spcAft>
              <a:buNone/>
            </a:pPr>
            <a:r>
              <a:rPr lang="da"/>
              <a:t>“Min pointe er da, at ethvert individuelt valg mellem konkurrerende teorier er afhængigt af en blanding af objektive og subjektive faktorer, eller af fælles og individuelle kriterier” (Kuhn, 1995)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Opdagelsens og bekræftelsens </a:t>
            </a:r>
            <a:r>
              <a:rPr lang="da"/>
              <a:t>kontekst</a:t>
            </a:r>
            <a:endParaRPr/>
          </a:p>
        </p:txBody>
      </p:sp>
      <p:sp>
        <p:nvSpPr>
          <p:cNvPr id="92" name="Google Shape;92;p18"/>
          <p:cNvSpPr txBox="1"/>
          <p:nvPr>
            <p:ph idx="1" type="body"/>
          </p:nvPr>
        </p:nvSpPr>
        <p:spPr>
          <a:xfrm>
            <a:off x="311700" y="112500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da"/>
              <a:t>Opdagelsen påvirker bekræftelsens</a:t>
            </a:r>
            <a:endParaRPr/>
          </a:p>
          <a:p>
            <a:pPr indent="-342900" lvl="0" marL="457200" rtl="0" algn="l">
              <a:spcBef>
                <a:spcPts val="0"/>
              </a:spcBef>
              <a:spcAft>
                <a:spcPts val="0"/>
              </a:spcAft>
              <a:buSzPts val="1800"/>
              <a:buChar char="●"/>
            </a:pPr>
            <a:r>
              <a:rPr lang="da"/>
              <a:t>Man ved allerede, hvad man skal bekræfte</a:t>
            </a:r>
            <a:endParaRPr/>
          </a:p>
          <a:p>
            <a:pPr indent="-342900" lvl="0" marL="457200" rtl="0" algn="l">
              <a:spcBef>
                <a:spcPts val="0"/>
              </a:spcBef>
              <a:spcAft>
                <a:spcPts val="0"/>
              </a:spcAft>
              <a:buSzPts val="1800"/>
              <a:buChar char="●"/>
            </a:pPr>
            <a:r>
              <a:rPr lang="da"/>
              <a:t>Modbevis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Foucaults pendul</a:t>
            </a:r>
            <a:endParaRPr/>
          </a:p>
        </p:txBody>
      </p:sp>
      <p:sp>
        <p:nvSpPr>
          <p:cNvPr id="98" name="Google Shape;98;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da"/>
              <a:t>Ville vise jordens bevægelse</a:t>
            </a:r>
            <a:endParaRPr/>
          </a:p>
          <a:p>
            <a:pPr indent="-342900" lvl="0" marL="457200" rtl="0" algn="l">
              <a:spcBef>
                <a:spcPts val="0"/>
              </a:spcBef>
              <a:spcAft>
                <a:spcPts val="0"/>
              </a:spcAft>
              <a:buSzPts val="1800"/>
              <a:buChar char="●"/>
            </a:pPr>
            <a:r>
              <a:rPr lang="da"/>
              <a:t>Lavede sit pendul</a:t>
            </a:r>
            <a:endParaRPr/>
          </a:p>
          <a:p>
            <a:pPr indent="-342900" lvl="0" marL="457200" rtl="0" algn="l">
              <a:spcBef>
                <a:spcPts val="0"/>
              </a:spcBef>
              <a:spcAft>
                <a:spcPts val="0"/>
              </a:spcAft>
              <a:buSzPts val="1800"/>
              <a:buChar char="●"/>
            </a:pPr>
            <a:r>
              <a:rPr lang="da"/>
              <a:t>Der var ingen, der skulle overbevises</a:t>
            </a:r>
            <a:endParaRPr/>
          </a:p>
        </p:txBody>
      </p:sp>
      <p:pic>
        <p:nvPicPr>
          <p:cNvPr id="99" name="Google Shape;99;p19"/>
          <p:cNvPicPr preferRelativeResize="0"/>
          <p:nvPr/>
        </p:nvPicPr>
        <p:blipFill>
          <a:blip r:embed="rId3">
            <a:alphaModFix/>
          </a:blip>
          <a:stretch>
            <a:fillRect/>
          </a:stretch>
        </p:blipFill>
        <p:spPr>
          <a:xfrm>
            <a:off x="4646000" y="1196323"/>
            <a:ext cx="4105725" cy="3079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Diskussion</a:t>
            </a:r>
            <a:endParaRPr/>
          </a:p>
        </p:txBody>
      </p:sp>
      <p:sp>
        <p:nvSpPr>
          <p:cNvPr id="105" name="Google Shape;105;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da"/>
              <a:t>Problematisk ikke er være sikker på teorier</a:t>
            </a:r>
            <a:endParaRPr/>
          </a:p>
          <a:p>
            <a:pPr indent="-342900" lvl="0" marL="457200" rtl="0" algn="l">
              <a:spcBef>
                <a:spcPts val="0"/>
              </a:spcBef>
              <a:spcAft>
                <a:spcPts val="0"/>
              </a:spcAft>
              <a:buSzPts val="1800"/>
              <a:buChar char="●"/>
            </a:pPr>
            <a:r>
              <a:rPr lang="da"/>
              <a:t>Bayesianske algoritme P(T, E)</a:t>
            </a:r>
            <a:endParaRPr/>
          </a:p>
          <a:p>
            <a:pPr indent="-342900" lvl="0" marL="457200" rtl="0" algn="l">
              <a:spcBef>
                <a:spcPts val="0"/>
              </a:spcBef>
              <a:spcAft>
                <a:spcPts val="0"/>
              </a:spcAft>
              <a:buSzPts val="1800"/>
              <a:buChar char="●"/>
            </a:pPr>
            <a:r>
              <a:rPr lang="da"/>
              <a:t>Subjektiv evidens</a:t>
            </a:r>
            <a:endParaRPr/>
          </a:p>
          <a:p>
            <a:pPr indent="-342900" lvl="0" marL="457200" rtl="0" algn="l">
              <a:spcBef>
                <a:spcPts val="0"/>
              </a:spcBef>
              <a:spcAft>
                <a:spcPts val="0"/>
              </a:spcAft>
              <a:buSzPts val="1800"/>
              <a:buChar char="●"/>
            </a:pPr>
            <a:r>
              <a:rPr lang="da"/>
              <a:t>Heliocentrisk vs. geocentrisk</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